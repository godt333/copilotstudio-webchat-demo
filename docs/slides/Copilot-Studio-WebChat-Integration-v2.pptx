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</a:rPr>
              <a:t>🚀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Integrating and Branding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 with Web Chat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and Audio Integration Patterns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THR505 | Microsoft Copilot Studio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Agenda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we'll cover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Overview of Integration Approaches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Token Endpoint Architecture (Anonymous Access)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M365 Agents SDK Architecture (Authenticated Access)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Voice Integration Options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Theming and Customization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Feature Comparison &amp; Decision Guide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🏗️ Architecture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High-level integration layers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640080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3716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User Interface Layer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6916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Application • BotFramework WebChat • Fluent UI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2148840"/>
            <a:ext cx="6400800" cy="685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1488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Connection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468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DirectLine Protocol • CopilotStudioWebChat Connection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2926080"/>
            <a:ext cx="6400800" cy="685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926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Authentication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2461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Endpoint (Anonymous) • MSAL/Azure AD (Authenticated)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3703320"/>
            <a:ext cx="6400800" cy="68580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37033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Microsoft Cloud Services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023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 • Power Platform API • Azure Bot Service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4480560"/>
            <a:ext cx="6400800" cy="6858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44805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AI &amp; Knowledge Layer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8006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Topics &amp; Dialogs • Generative AI • Knowledge Sources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🔀 Two Integration Approaches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based on your authentication requirements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🎫 Token Endpoint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Anonymous Access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No user sign-in required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Public websites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Citizen services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Simple implementation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5C2D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2D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M365 Agents SDK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Authenticated Access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Azure AD sign-in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User identity aware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Enterprise apps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SharePoint/Dataverse access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🎫 Token Endpoint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Anonymous access for public websites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1463040"/>
            <a:ext cx="2743200" cy="82296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Web Browser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Application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2560320"/>
            <a:ext cx="2743200" cy="822960"/>
          </a:xfrm>
          <a:prstGeom prst="roundRect">
            <a:avLst/>
          </a:prstGeom>
          <a:solidFill>
            <a:srgbClr val="E0E0E0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1️⃣ GET /token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Auth Required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2560320"/>
            <a:ext cx="2743200" cy="822960"/>
          </a:xfrm>
          <a:prstGeom prst="roundRect">
            <a:avLst/>
          </a:prstGeom>
          <a:solidFill>
            <a:srgbClr val="22C55E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🎫 Token Endpoint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Platform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3657600"/>
            <a:ext cx="2743200" cy="822960"/>
          </a:xfrm>
          <a:prstGeom prst="roundRect">
            <a:avLst/>
          </a:prstGeom>
          <a:solidFill>
            <a:srgbClr val="E0E0E0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2️⃣ DirectLine Token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Returned to Browser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71600" y="4754880"/>
            <a:ext cx="2743200" cy="82296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WebChat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createDirectLine()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4754880"/>
            <a:ext cx="2743200" cy="822960"/>
          </a:xfrm>
          <a:prstGeom prst="roundRect">
            <a:avLst/>
          </a:prstGeom>
          <a:solidFill>
            <a:srgbClr val="5C2D91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Copilot Studio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 Service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2148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⬇️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84048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➡️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11480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⬇️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114800" y="4343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⬇️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840480" y="4937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➡️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M365 Agents SDK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Authenticated access with Azure AD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2743200" cy="82296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User Browser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MSAL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0" y="1463040"/>
            <a:ext cx="2743200" cy="822960"/>
          </a:xfrm>
          <a:prstGeom prst="roundRect">
            <a:avLst/>
          </a:prstGeom>
          <a:solidFill>
            <a:srgbClr val="22C55E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Azure 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560320"/>
            <a:ext cx="2743200" cy="822960"/>
          </a:xfrm>
          <a:prstGeom prst="roundRect">
            <a:avLst/>
          </a:prstGeom>
          <a:solidFill>
            <a:srgbClr val="E0E0E0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🎫 Access Token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api.powerplatform.com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3657600"/>
            <a:ext cx="2743200" cy="822960"/>
          </a:xfrm>
          <a:prstGeom prst="roundRect">
            <a:avLst/>
          </a:prstGeom>
          <a:solidFill>
            <a:srgbClr val="5C2D91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CopilotStudioClient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SDK Instance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3657600"/>
            <a:ext cx="2743200" cy="82296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Power Platform API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4754880"/>
            <a:ext cx="2743200" cy="822960"/>
          </a:xfrm>
          <a:prstGeom prst="roundRect">
            <a:avLst/>
          </a:prstGeom>
          <a:solidFill>
            <a:srgbClr val="5C2D91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WebChat + Fluent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User-Aware Chat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1645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➡️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114800" y="2148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⬇️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114800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⬇️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840480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➡️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114800" y="4343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⬇️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🎤 Voice Integration Options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speech capabilities to your chat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Web Speech API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Built-in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No cost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Simple setup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Limited languages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Browser dependent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74320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5C2D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2D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Azure Cognitive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Grade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100+ languages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Custom voices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3474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Requires subscription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Additional cost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74320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🔊 DirectLine Speech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Duplex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Real-time streaming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Low latency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474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Complex setup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Azure required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Theming &amp; Customization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approaches to style your chat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3474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Style Options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2468880" cy="228600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3774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styleOptions={{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bubbleBackground: '#0078d4'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743200" cy="3474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Style Sets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2286000"/>
            <a:ext cx="2468880" cy="228600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23774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createStyleSet({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bubble: { borderRadius: 12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743200" cy="3474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5C2D9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2D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Fluent Theme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2286000"/>
            <a:ext cx="2468880" cy="228600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3774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&lt;FluentThemeProvider&gt;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&lt;ReactWebChat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&lt;/FluentThemeProvider&gt;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Middleware &amp; Custom Components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 WebChat with custom rendering and behavior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6400800" cy="82296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2801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Activity Middleware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6459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rendering for specific activity types (cards, attachments, messages)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2103120"/>
            <a:ext cx="6400800" cy="82296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1945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📎 Attachment Middleware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5603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attachment renderers for Adaptive Cards, Hero Cards, images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3017520"/>
            <a:ext cx="6400800" cy="8229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31089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Send Box Middleware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4747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input components, suggestions, attachments picker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3931920"/>
            <a:ext cx="6400800" cy="822960"/>
          </a:xfrm>
          <a:prstGeom prst="roundRect">
            <a:avLst/>
          </a:prstGeom>
          <a:solidFill>
            <a:srgbClr val="FCE7F3"/>
          </a:solidFill>
          <a:ln w="25400">
            <a:solidFill>
              <a:srgbClr val="F9A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40233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Avatar Middleware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3891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bot/user avatars, status indicators, presence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892040"/>
            <a:ext cx="8229600" cy="1005840"/>
          </a:xfrm>
          <a:prstGeom prst="roundRect">
            <a:avLst/>
          </a:prstGeom>
          <a:solidFill>
            <a:srgbClr val="2D2D3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9377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Custom Activity Middleware Example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516636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activityMiddleware = () =&gt; next =&gt; card =&gt;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(card.activity.type === 'message' &amp;&amp; card.activity.text?.includes('CUSTOM'))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() =&gt; &lt;CustomMessageCard activity={card.activity} /&gt;;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next(card);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Feature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Endpoint vs M365 Agents SDK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606040"/>
                <a:gridCol w="2606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🎫 Token Endpoint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🔑 M365 Agents SDK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Sign-in Required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Anonymous Access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Identity in Bot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SSO with Microsoft 365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SharePoint/Dataverse Access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Implementation Complexity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Low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🟠 Medium-High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AD App Required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Fluent UI Theme Support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Voice Support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Decision Guide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approach should you choose?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🎫 Use Token Endpoint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Public-facing website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Users should NOT sign 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Public knowledge sources only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Simpler deployment preferred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Citizen services / customer support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02336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5C2D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2D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Use M365 Agents SDK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Enterprise internal app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Bot needs user identity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017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SharePoint/Dataverse access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520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Teams or SharePoint integration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4023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SSO with Microsoft 365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 Resources &amp; Documentation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more about Copilot Studio integration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Copilot Studio Documentation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Publish to Custom Apps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Web Channel Security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Authentication Configuration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SSO with Entra ID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2D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Packages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@microsoft/agents-copilotstudio-client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240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botframework-webchat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697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botframework-webchat-fluent-theme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3154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@azure/msal-browser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6118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microsoft-cognitiveservices-speech-sdk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C2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</a:rPr>
              <a:t>🎉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THR505 - Integrating and Branding Copilot Studio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Web Chat (Text and Audio)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Studio Web Chat Integration</dc:title>
  <dc:subject>THR505 - Integrating and Branding Copilot Studio with Web Chat</dc:subject>
  <dc:creator>Citizen Advice Portal</dc:creator>
  <cp:lastModifiedBy>Citizen Advice Portal</cp:lastModifiedBy>
  <cp:revision>1</cp:revision>
  <dcterms:created xsi:type="dcterms:W3CDTF">2026-02-06T07:49:24Z</dcterms:created>
  <dcterms:modified xsi:type="dcterms:W3CDTF">2026-02-06T07:49:24Z</dcterms:modified>
</cp:coreProperties>
</file>