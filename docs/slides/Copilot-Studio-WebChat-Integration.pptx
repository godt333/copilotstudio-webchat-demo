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78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FFFFFF"/>
                </a:solidFill>
              </a:rPr>
              <a:t>🚀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Integrating and Branding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Studio with Web Chat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 and Audio Integration Patterns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THR505 | Microsoft Copilot Studio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Agenda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we'll cover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Overview of Integration Approaches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Token Endpoint Architecture (Anonymous Access)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M365 Agents SDK Architecture (Authenticated Access)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Voice Integration Options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Theming and Customization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Feature Comparison &amp; Decision Guide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🏗️ Architecture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High-level integration layers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0" y="1371600"/>
            <a:ext cx="6400800" cy="6858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63040" y="137160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🖥️ User Interface Layer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69164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Application • BotFramework WebChat • Fluent UI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2148840"/>
            <a:ext cx="6400800" cy="6858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214884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🔗 Connection Layer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24688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DirectLine Protocol • CopilotStudioWebChat Connection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371600" y="2926080"/>
            <a:ext cx="6400800" cy="6858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29260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 Authentication Layer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324612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Endpoint (Anonymous) • MSAL/Azure AD (Authenticated)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371600" y="3703320"/>
            <a:ext cx="6400800" cy="68580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3040" y="370332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☁️ Microsoft Cloud Services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4023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Studio • Power Platform API • Azure Bot Service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371600" y="4480560"/>
            <a:ext cx="6400800" cy="6858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63040" y="448056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 AI &amp; Knowledge Layer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480060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Topics &amp; Dialogs • Generative AI • Knowledge Sources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🔀 Two Integration Approaches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based on your authentication requirements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2004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🎫 Token Endpoint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Anonymous Access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No user sign-in required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Public websites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Citizen services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611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Simple implementation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3931920" cy="32004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5C2D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2D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🔑 M365 Agents SDK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93776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Authenticated Access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Azure AD sign-in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2788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User identity aware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3200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Enterprise apps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3611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SharePoint/Dataverse access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🎫 Token Endpoint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Anonymous access for public websites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0" y="1463040"/>
            <a:ext cx="2743200" cy="822960"/>
          </a:xfrm>
          <a:prstGeom prst="roundRect">
            <a:avLst/>
          </a:prstGeom>
          <a:solidFill>
            <a:srgbClr val="0078D4"/>
          </a:solidFill>
          <a:ln/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Web Browser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1920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Application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71600" y="2560320"/>
            <a:ext cx="2743200" cy="822960"/>
          </a:xfrm>
          <a:prstGeom prst="roundRect">
            <a:avLst/>
          </a:prstGeom>
          <a:solidFill>
            <a:srgbClr val="E0E0E0"/>
          </a:solidFill>
          <a:ln/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71600" y="2651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1️⃣ GET /token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Auth Required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0" y="2560320"/>
            <a:ext cx="2743200" cy="822960"/>
          </a:xfrm>
          <a:prstGeom prst="roundRect">
            <a:avLst/>
          </a:prstGeom>
          <a:solidFill>
            <a:srgbClr val="22C55E"/>
          </a:solidFill>
          <a:ln/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0" y="2651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🎫 Token Endpoint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Platform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3657600"/>
            <a:ext cx="2743200" cy="822960"/>
          </a:xfrm>
          <a:prstGeom prst="roundRect">
            <a:avLst/>
          </a:prstGeom>
          <a:solidFill>
            <a:srgbClr val="E0E0E0"/>
          </a:solidFill>
          <a:ln/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0" y="3749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2️⃣ DirectLine Token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0" y="4114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Returned to Browser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371600" y="4754880"/>
            <a:ext cx="2743200" cy="822960"/>
          </a:xfrm>
          <a:prstGeom prst="roundRect">
            <a:avLst/>
          </a:prstGeom>
          <a:solidFill>
            <a:srgbClr val="0078D4"/>
          </a:solidFill>
          <a:ln/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371600" y="4846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WebChat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5212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createDirectLine()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0" y="4754880"/>
            <a:ext cx="2743200" cy="822960"/>
          </a:xfrm>
          <a:prstGeom prst="roundRect">
            <a:avLst/>
          </a:prstGeom>
          <a:solidFill>
            <a:srgbClr val="5C2D91"/>
          </a:solidFill>
          <a:ln/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0" y="4846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 Copilot Studio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0" y="5212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 Service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0" y="21488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⬇️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840480" y="2743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➡️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114800" y="32918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⬇️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114800" y="43434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⬇️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840480" y="4937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➡️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🔑 M365 Agents SDK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Authenticated access with Azure AD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371600" y="1463040"/>
            <a:ext cx="2743200" cy="822960"/>
          </a:xfrm>
          <a:prstGeom prst="roundRect">
            <a:avLst/>
          </a:prstGeom>
          <a:solidFill>
            <a:srgbClr val="0078D4"/>
          </a:solidFill>
          <a:ln/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👤 User Browser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920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+ MSAL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0" y="1463040"/>
            <a:ext cx="2743200" cy="822960"/>
          </a:xfrm>
          <a:prstGeom prst="roundRect">
            <a:avLst/>
          </a:prstGeom>
          <a:solidFill>
            <a:srgbClr val="22C55E"/>
          </a:solidFill>
          <a:ln/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 Azure AD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920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 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2560320"/>
            <a:ext cx="2743200" cy="822960"/>
          </a:xfrm>
          <a:prstGeom prst="roundRect">
            <a:avLst/>
          </a:prstGeom>
          <a:solidFill>
            <a:srgbClr val="E0E0E0"/>
          </a:solidFill>
          <a:ln/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2651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🎫 Access Token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api.powerplatform.com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371600" y="3657600"/>
            <a:ext cx="2743200" cy="822960"/>
          </a:xfrm>
          <a:prstGeom prst="roundRect">
            <a:avLst/>
          </a:prstGeom>
          <a:solidFill>
            <a:srgbClr val="5C2D91"/>
          </a:solidFill>
          <a:ln/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371600" y="3749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 CopilotStudioClient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4114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SDK Instance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0" y="3657600"/>
            <a:ext cx="2743200" cy="822960"/>
          </a:xfrm>
          <a:prstGeom prst="roundRect">
            <a:avLst/>
          </a:prstGeom>
          <a:solidFill>
            <a:srgbClr val="0078D4"/>
          </a:solidFill>
          <a:ln/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0" y="3749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☁️ Power Platform API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4114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4754880"/>
            <a:ext cx="2743200" cy="822960"/>
          </a:xfrm>
          <a:prstGeom prst="roundRect">
            <a:avLst/>
          </a:prstGeom>
          <a:solidFill>
            <a:srgbClr val="5C2D91"/>
          </a:solidFill>
          <a:ln/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0" y="4846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WebChat + Fluent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0" y="5212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User-Aware Chat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0" y="1645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➡️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114800" y="21488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⬇️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114800" y="3246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⬇️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840480" y="3840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➡️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114800" y="43434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⬇️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🎤 Voice Integration Options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speech capabilities to your chat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743200" cy="3657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Web Speech API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 Built-in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No cost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Simple setup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Limited languages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Browser dependent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371600"/>
            <a:ext cx="2743200" cy="3657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5C2D9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2D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☁️ Azure Cognitive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91840" y="1920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Grade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2377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100+ languages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Custom voices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34747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Requires subscription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Additional cost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371600"/>
            <a:ext cx="2743200" cy="3657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🔊 DirectLine Speech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26480" y="1920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Duplex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2377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Real-time streaming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Low latency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34747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Complex setup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Azure required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🎨 Theming &amp; Customization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approaches to style your chat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743200" cy="3474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Style Options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Easy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286000"/>
            <a:ext cx="2468880" cy="2286000"/>
          </a:xfrm>
          <a:prstGeom prst="roundRect">
            <a:avLst/>
          </a:prstGeom>
          <a:solidFill>
            <a:srgbClr val="1E1E1E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37744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styleOptions={{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bubbleBackground: '#0078d4'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}}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371600"/>
            <a:ext cx="2743200" cy="3474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🎨 Style Sets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91840" y="1920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37560" y="2286000"/>
            <a:ext cx="2468880" cy="2286000"/>
          </a:xfrm>
          <a:prstGeom prst="roundRect">
            <a:avLst/>
          </a:prstGeom>
          <a:solidFill>
            <a:srgbClr val="1E1E1E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237744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createStyleSet({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bubble: { borderRadius: 12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1371600"/>
            <a:ext cx="2743200" cy="3474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5C2D9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2D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✨ Fluent Theme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26480" y="1920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Premium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2286000"/>
            <a:ext cx="2468880" cy="2286000"/>
          </a:xfrm>
          <a:prstGeom prst="roundRect">
            <a:avLst/>
          </a:prstGeom>
          <a:solidFill>
            <a:srgbClr val="1E1E1E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237744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&lt;FluentThemeProvider&gt;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&lt;ReactWebChat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&lt;/FluentThemeProvider&gt;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Feature Comparison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Endpoint vs M365 Agents SDK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606040"/>
                <a:gridCol w="26060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Feature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C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🎫 Token Endpoint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C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🔑 M365 Agents SDK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C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 Sign-in Required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✕ No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Yes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Anonymous Access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Yes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✕ No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 Identity in Bot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✕ No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Yes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SSO with Microsoft 365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✕ No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Yes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SharePoint/Dataverse Access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✕ No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Yes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Implementation Complexity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🟢 Low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🟠 Medium-High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 AD App Required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✕ No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Yes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Fluent UI Theme Support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Yes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Yes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231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Voice Support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Yes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Yes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Decision Guide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approach should you choose?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023360" cy="3657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🎫 Use Token Endpoint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Public-facing website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Users should NOT sign 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Public knowledge sources only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520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Simpler deployment preferred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0233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Citizen services / customer support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4023360" cy="3657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5C2D9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463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2D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🔑 Use M365 Agents SDK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37760" y="2011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Enterprise internal app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5146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Bot needs user identity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3017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SharePoint/Dataverse access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3520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Teams or SharePoint integration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40233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SSO with Microsoft 365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📚 Resources &amp; Documentation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 more about Copilot Studio integration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Copilot Studio Documentation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Publish to Custom Apps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Web Channel Security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Authentication Configuration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6118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23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SSO with Entra ID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2801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2D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NPM Packages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846320" y="17830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@microsoft/agents-copilotstudio-client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22402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botframework-webchat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26974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botframework-webchat-fluent-theme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31546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@azure/msal-browser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36118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23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microsoft-cognitiveservices-speech-sdk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5C2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FFFFFF"/>
                </a:solidFill>
              </a:rPr>
              <a:t>🎉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THR505 - Integrating and Branding Copilot Studio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Web Chat (Text and Audio)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Copilot Studio Web Chat Integration</dc:title>
  <dc:subject>THR505 - Integrating and Branding Copilot Studio with Web Chat</dc:subject>
  <dc:creator>Citizen Advice Portal</dc:creator>
  <cp:lastModifiedBy>Citizen Advice Portal</cp:lastModifiedBy>
  <cp:revision>1</cp:revision>
  <dcterms:created xsi:type="dcterms:W3CDTF">2026-02-06T07:27:43Z</dcterms:created>
  <dcterms:modified xsi:type="dcterms:W3CDTF">2026-02-06T07:27:43Z</dcterms:modified>
</cp:coreProperties>
</file>